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34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61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57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12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12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86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0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2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06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0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ABAD818-7708-4653-8495-0228A48B19F0}" type="datetimeFigureOut">
              <a:rPr lang="pt-BR" smtClean="0"/>
              <a:t>05/02/2025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519F959-01F1-4B95-9C87-3B8A706B695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1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Compilador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pt.wikipedia.org/wiki/Linguagem_de_programa%C3%A7%C3%A3o" TargetMode="External"/><Relationship Id="rId7" Type="http://schemas.openxmlformats.org/officeDocument/2006/relationships/hyperlink" Target="https://pt.wikipedia.org/wiki/Programa_de_computador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t.wikipedia.org/wiki/Processador" TargetMode="External"/><Relationship Id="rId11" Type="http://schemas.openxmlformats.org/officeDocument/2006/relationships/hyperlink" Target="https://pt.wikipedia.org/wiki/C%C3%B3digo_de_m%C3%A1quina" TargetMode="External"/><Relationship Id="rId5" Type="http://schemas.openxmlformats.org/officeDocument/2006/relationships/hyperlink" Target="https://pt.wikipedia.org/wiki/Sistema_operativo" TargetMode="External"/><Relationship Id="rId10" Type="http://schemas.openxmlformats.org/officeDocument/2006/relationships/hyperlink" Target="https://pt.wikipedia.org/wiki/Linguagem_de_montagem" TargetMode="External"/><Relationship Id="rId4" Type="http://schemas.openxmlformats.org/officeDocument/2006/relationships/hyperlink" Target="https://pt.wikipedia.org/wiki/C%C3%B3digo_fonte" TargetMode="External"/><Relationship Id="rId9" Type="http://schemas.openxmlformats.org/officeDocument/2006/relationships/hyperlink" Target="https://pt.wikipedia.org/wiki/Linguagem_de_programa%C3%A7%C3%A3o_de_baixo_n%C3%ADvel" TargetMode="External"/><Relationship Id="rId1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betrybe.com/carreira/o-que-faz-um-programado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JavaScript#Uses_outside_web_pages" TargetMode="External"/><Relationship Id="rId2" Type="http://schemas.openxmlformats.org/officeDocument/2006/relationships/hyperlink" Target="http://en.wikipedia.org/wiki/First-class_func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en-US/JavaScript/Language_Resources" TargetMode="External"/><Relationship Id="rId4" Type="http://schemas.openxmlformats.org/officeDocument/2006/relationships/hyperlink" Target="https://nodejs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81mX6ZdJvw8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4DDC049-6A55-4515-B6DA-223AC32F4419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pic>
        <p:nvPicPr>
          <p:cNvPr id="1026" name="Picture 2" descr="ETEC IRMÃ Agostina - Classe Descentralizada CEU Vila Rubi">
            <a:extLst>
              <a:ext uri="{FF2B5EF4-FFF2-40B4-BE49-F238E27FC236}">
                <a16:creationId xmlns:a16="http://schemas.microsoft.com/office/drawing/2014/main" id="{9BB79E06-7887-40D0-EB42-8DA69D3CE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00" y="0"/>
            <a:ext cx="1694021" cy="169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ETEC Irmã Agostina">
            <a:extLst>
              <a:ext uri="{FF2B5EF4-FFF2-40B4-BE49-F238E27FC236}">
                <a16:creationId xmlns:a16="http://schemas.microsoft.com/office/drawing/2014/main" id="{E1939EE3-C82A-EF1A-19D0-8B696ACFE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82" y="2371085"/>
            <a:ext cx="4997135" cy="277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85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791" y="461394"/>
            <a:ext cx="11604071" cy="1456267"/>
          </a:xfrm>
        </p:spPr>
        <p:txBody>
          <a:bodyPr/>
          <a:lstStyle/>
          <a:p>
            <a:r>
              <a:rPr lang="pt-BR" dirty="0">
                <a:latin typeface="A-Space Black Demo" panose="02000500000000000000" pitchFamily="2" charset="0"/>
              </a:rPr>
              <a:t>Linguagem de </a:t>
            </a:r>
            <a:br>
              <a:rPr lang="pt-BR" dirty="0">
                <a:latin typeface="A-Space Black Demo" panose="02000500000000000000" pitchFamily="2" charset="0"/>
              </a:rPr>
            </a:br>
            <a:r>
              <a:rPr lang="pt-BR" dirty="0">
                <a:latin typeface="A-Space Black Demo" panose="02000500000000000000" pitchFamily="2" charset="0"/>
              </a:rPr>
              <a:t>Programação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007B03-B5E9-4C34-A767-F541DAF3FCBA}"/>
              </a:ext>
            </a:extLst>
          </p:cNvPr>
          <p:cNvSpPr txBox="1"/>
          <p:nvPr/>
        </p:nvSpPr>
        <p:spPr>
          <a:xfrm>
            <a:off x="519929" y="1730308"/>
            <a:ext cx="104631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3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linguagem de programação é um método padronizado, formado por um conjunto de regras sintáticas e semânticas, de implementação de um código fonte - que pode ser compilado e transformado em um programa de computador, ou usado como script interpretado - que informará instruções de processamento ao computador</a:t>
            </a:r>
            <a:r>
              <a:rPr lang="pt-BR" sz="3200" b="0" i="0" dirty="0"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200" dirty="0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1C574B-D019-75E7-770A-F457045CD24E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269687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569" y="729974"/>
            <a:ext cx="10131425" cy="118707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sz="4400" dirty="0">
                <a:latin typeface="A-Space Black Demo" panose="02000500000000000000" pitchFamily="2" charset="0"/>
              </a:rPr>
              <a:t>Linguagem </a:t>
            </a:r>
            <a:br>
              <a:rPr lang="pt-BR" sz="4400" dirty="0">
                <a:latin typeface="A-Space Black Demo" panose="02000500000000000000" pitchFamily="2" charset="0"/>
              </a:rPr>
            </a:br>
            <a:r>
              <a:rPr lang="pt-BR" sz="4400" dirty="0">
                <a:latin typeface="A-Space Black Demo" panose="02000500000000000000" pitchFamily="2" charset="0"/>
              </a:rPr>
              <a:t>Compilada</a:t>
            </a:r>
          </a:p>
        </p:txBody>
      </p:sp>
      <p:pic>
        <p:nvPicPr>
          <p:cNvPr id="2052" name="Picture 4" descr="Concatenar - Concatenar">
            <a:extLst>
              <a:ext uri="{FF2B5EF4-FFF2-40B4-BE49-F238E27FC236}">
                <a16:creationId xmlns:a16="http://schemas.microsoft.com/office/drawing/2014/main" id="{0ED31087-746A-4CD8-94B0-905528977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484" y="1830976"/>
            <a:ext cx="3864885" cy="263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CAC1631-AA5D-443B-8B2D-049E706B11FC}"/>
              </a:ext>
            </a:extLst>
          </p:cNvPr>
          <p:cNvSpPr txBox="1"/>
          <p:nvPr/>
        </p:nvSpPr>
        <p:spPr>
          <a:xfrm>
            <a:off x="1090569" y="2098183"/>
            <a:ext cx="62091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 uma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Linguagem de programaçã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linguagem de programação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em que o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Código fon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código fonte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nessa linguagem, é executado diretamente pelo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Sistema operativ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sistema operacional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ou pelo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 tooltip="Processad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processador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após ser traduzido por meio de um processo chamado compilação, usando um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Programa de computad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programa de computador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chamado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Compilad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compilador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para uma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 tooltip="Linguagem de programação de baixo ní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linguagem de baixo nível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como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 tooltip="Linguagem de montag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linguagem de montagem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ou </a:t>
            </a:r>
            <a:r>
              <a:rPr lang="pt-B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 tooltip="Código de máquin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código de máquina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Teoricamente, qualquer linguagem pode ser compilada ou Linguagem interpretada e, por causa disso, há algumas linguagens que possuem ambas implementações.</a:t>
            </a:r>
          </a:p>
        </p:txBody>
      </p:sp>
      <p:pic>
        <p:nvPicPr>
          <p:cNvPr id="2056" name="Picture 8" descr="Adesivo de Parede 50x45cm - C++ Programming Programação Prof REF: ADE1587 -  Nebula Decor - Adesivo de Parede - Magazine Luiza">
            <a:extLst>
              <a:ext uri="{FF2B5EF4-FFF2-40B4-BE49-F238E27FC236}">
                <a16:creationId xmlns:a16="http://schemas.microsoft.com/office/drawing/2014/main" id="{E4357450-3248-4FEA-A6F5-D47416556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16" y="5293452"/>
            <a:ext cx="834574" cy="83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s Linguagens De Programação Mais Usadas: Saiba Quais São Elas">
            <a:extLst>
              <a:ext uri="{FF2B5EF4-FFF2-40B4-BE49-F238E27FC236}">
                <a16:creationId xmlns:a16="http://schemas.microsoft.com/office/drawing/2014/main" id="{64307C92-AB16-41B0-805F-C010E3CB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078" y="5293452"/>
            <a:ext cx="834575" cy="83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istória do Java - Linguagem de Programação - InfoEscola">
            <a:extLst>
              <a:ext uri="{FF2B5EF4-FFF2-40B4-BE49-F238E27FC236}">
                <a16:creationId xmlns:a16="http://schemas.microsoft.com/office/drawing/2014/main" id="{F3002067-E4FD-4D85-8E8C-13382F16D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9" r="27304"/>
          <a:stretch/>
        </p:blipFill>
        <p:spPr bwMode="auto">
          <a:xfrm>
            <a:off x="10009580" y="5134061"/>
            <a:ext cx="669349" cy="99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0950A86-8C8E-4200-92BE-CA4217009C69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196166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065199"/>
            <a:ext cx="10131425" cy="80751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Linguagem </a:t>
            </a:r>
            <a:br>
              <a:rPr lang="pt-BR" dirty="0">
                <a:latin typeface="A-Space Black Demo" panose="02000500000000000000" pitchFamily="2" charset="0"/>
              </a:rPr>
            </a:br>
            <a:r>
              <a:rPr lang="pt-BR" dirty="0">
                <a:latin typeface="A-Space Black Demo" panose="02000500000000000000" pitchFamily="2" charset="0"/>
              </a:rPr>
              <a:t>Interpretada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AC1631-AA5D-443B-8B2D-049E706B11FC}"/>
              </a:ext>
            </a:extLst>
          </p:cNvPr>
          <p:cNvSpPr txBox="1"/>
          <p:nvPr/>
        </p:nvSpPr>
        <p:spPr>
          <a:xfrm>
            <a:off x="963174" y="2250086"/>
            <a:ext cx="63533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Linguagem interpretada é uma </a:t>
            </a:r>
            <a:r>
              <a:rPr lang="pt-BR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linguagem de programação em que o código fonte nessa linguagem é executado por um programa de computador chamado interpretador, que em seguida é executado pelo sistema operacional ou processador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lang="pt-BR" sz="2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4883402-0F44-4FD2-BF0B-E736CADC4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26" y="1846327"/>
            <a:ext cx="4636012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D13E97F6-0384-4CA8-AB68-A1FF7978F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920" y="5243120"/>
            <a:ext cx="935242" cy="93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Python monitoring and integration with Zabbix">
            <a:extLst>
              <a:ext uri="{FF2B5EF4-FFF2-40B4-BE49-F238E27FC236}">
                <a16:creationId xmlns:a16="http://schemas.microsoft.com/office/drawing/2014/main" id="{6E155781-8EF8-4FEF-8FD5-7F2C83FEB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896" y="5243120"/>
            <a:ext cx="939417" cy="93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HPSC">
            <a:extLst>
              <a:ext uri="{FF2B5EF4-FFF2-40B4-BE49-F238E27FC236}">
                <a16:creationId xmlns:a16="http://schemas.microsoft.com/office/drawing/2014/main" id="{D9729B70-F015-4A92-92EE-EE349840B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188" y="5216840"/>
            <a:ext cx="1582391" cy="96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38BE2F30-B011-4FA9-96C5-35C76ED1D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357" y="5244596"/>
            <a:ext cx="935242" cy="93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EC853AB-95D7-255B-FADA-99D6CD6E96FB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131597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958" y="1064149"/>
            <a:ext cx="10131425" cy="80751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Prós </a:t>
            </a:r>
            <a:br>
              <a:rPr lang="pt-BR" dirty="0">
                <a:latin typeface="A-Space Black Demo" panose="02000500000000000000" pitchFamily="2" charset="0"/>
              </a:rPr>
            </a:br>
            <a:r>
              <a:rPr lang="pt-BR" dirty="0">
                <a:latin typeface="A-Space Black Demo" panose="02000500000000000000" pitchFamily="2" charset="0"/>
              </a:rPr>
              <a:t>e contras</a:t>
            </a:r>
          </a:p>
        </p:txBody>
      </p:sp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D6200FAA-B185-46DA-B6E5-0B0610DDD3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ACAACC-FE32-4E4E-97CB-D297649D3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953" y="1954635"/>
            <a:ext cx="7988850" cy="42757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2C4109D-8D9D-76C9-E55D-BC3071CFC2DF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21957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114862"/>
            <a:ext cx="10131425" cy="80751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Linguagem </a:t>
            </a:r>
            <a:br>
              <a:rPr lang="pt-BR" dirty="0">
                <a:latin typeface="A-Space Black Demo" panose="02000500000000000000" pitchFamily="2" charset="0"/>
              </a:rPr>
            </a:br>
            <a:r>
              <a:rPr lang="pt-BR" dirty="0">
                <a:latin typeface="A-Space Black Demo" panose="02000500000000000000" pitchFamily="2" charset="0"/>
              </a:rPr>
              <a:t>de Alto nível</a:t>
            </a:r>
          </a:p>
        </p:txBody>
      </p:sp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D6200FAA-B185-46DA-B6E5-0B0610DDD3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0EEBFB-27DB-4420-A1AC-996C1B6FCEB8}"/>
              </a:ext>
            </a:extLst>
          </p:cNvPr>
          <p:cNvSpPr txBox="1"/>
          <p:nvPr/>
        </p:nvSpPr>
        <p:spPr>
          <a:xfrm>
            <a:off x="1124125" y="2018892"/>
            <a:ext cx="9638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Indo direto ao ponto, chamamos de linguagem de alto nível aquela cuja </a:t>
            </a:r>
            <a:r>
              <a:rPr lang="pt-BR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sintaxe é voltada para o entendimento humano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Isso significa que esse tipo de linguagem é muito mais intuitivo, amigável e mais fácil de aprender, principalmente para iniciantes na </a:t>
            </a:r>
            <a:r>
              <a:rPr lang="pt-BR" sz="2000" b="0" i="0" u="sng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área de programação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que isso seja possível, as linguagens de alto nível </a:t>
            </a:r>
            <a:r>
              <a:rPr lang="pt-BR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abstraem conceitos voltados para a máquina e sintetizam comandos</a:t>
            </a:r>
            <a:r>
              <a:rPr lang="pt-BR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765FB4-ECB7-77D1-9D99-EBBFB08819CF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12972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114862"/>
            <a:ext cx="10131425" cy="80751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Linguagem </a:t>
            </a:r>
            <a:br>
              <a:rPr lang="pt-BR" dirty="0">
                <a:latin typeface="A-Space Black Demo" panose="02000500000000000000" pitchFamily="2" charset="0"/>
              </a:rPr>
            </a:br>
            <a:r>
              <a:rPr lang="pt-BR" dirty="0">
                <a:latin typeface="A-Space Black Demo" panose="02000500000000000000" pitchFamily="2" charset="0"/>
              </a:rPr>
              <a:t>de Baixo nível</a:t>
            </a:r>
          </a:p>
        </p:txBody>
      </p:sp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D6200FAA-B185-46DA-B6E5-0B0610DDD3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0EEBFB-27DB-4420-A1AC-996C1B6FCEB8}"/>
              </a:ext>
            </a:extLst>
          </p:cNvPr>
          <p:cNvSpPr txBox="1"/>
          <p:nvPr/>
        </p:nvSpPr>
        <p:spPr>
          <a:xfrm>
            <a:off x="1124125" y="2018892"/>
            <a:ext cx="9638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As linguagens de baixo nível são aquelas cuja sintaxe está mais distante daqui que conhecemos por linguagem.</a:t>
            </a:r>
          </a:p>
          <a:p>
            <a:pPr algn="l"/>
            <a:r>
              <a:rPr lang="pt-BR" sz="2000" b="0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Estas linguagens se classificam em dois tipos: as </a:t>
            </a:r>
            <a:r>
              <a:rPr lang="pt-BR" sz="2000" b="1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linguagens de máquina</a:t>
            </a:r>
            <a:r>
              <a:rPr lang="pt-BR" sz="2000" b="0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 e as </a:t>
            </a:r>
            <a:r>
              <a:rPr lang="pt-BR" sz="2000" b="1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linguagens de montagem</a:t>
            </a:r>
            <a:r>
              <a:rPr lang="pt-BR" sz="2000" b="0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, conforme citadas no tópico anterior.</a:t>
            </a:r>
          </a:p>
          <a:p>
            <a:pPr algn="l"/>
            <a:r>
              <a:rPr lang="pt-BR" sz="2000" b="0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A primeira baseia-se somente em </a:t>
            </a:r>
            <a:r>
              <a:rPr lang="pt-BR" sz="2000" b="1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números binários</a:t>
            </a:r>
            <a:r>
              <a:rPr lang="pt-BR" sz="2000" b="0" i="0" u="none" strike="noStrike" dirty="0">
                <a:solidFill>
                  <a:srgbClr val="2D2D2D"/>
                </a:solidFill>
                <a:effectLst/>
                <a:latin typeface="Open Sans" panose="020B0606030504020204" pitchFamily="34" charset="0"/>
              </a:rPr>
              <a:t> e transcrições do tipo 010101000110010101, por exemplo.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E5C0B8-E11E-0CA3-ECB1-BD7149F3B91B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202035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18FD1-B4C0-47A6-BD05-ACBBA90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114862"/>
            <a:ext cx="10131425" cy="807519"/>
          </a:xfrm>
        </p:spPr>
        <p:txBody>
          <a:bodyPr>
            <a:normAutofit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Java</a:t>
            </a:r>
          </a:p>
        </p:txBody>
      </p:sp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D6200FAA-B185-46DA-B6E5-0B0610DDD3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0EEBFB-27DB-4420-A1AC-996C1B6FCEB8}"/>
              </a:ext>
            </a:extLst>
          </p:cNvPr>
          <p:cNvSpPr txBox="1"/>
          <p:nvPr/>
        </p:nvSpPr>
        <p:spPr>
          <a:xfrm>
            <a:off x="1124125" y="2018892"/>
            <a:ext cx="9638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Java é uma linguagem de programação orientada a objetos, multiplataforma e de alto desempenho, criada pela Sun Microsystems em 1995 e atualmente mantida pela Oracle. Seu principal diferencial é a portabilidade, pois o código Java é compilado para </a:t>
            </a:r>
            <a:r>
              <a:rPr lang="pt-BR" dirty="0" err="1">
                <a:solidFill>
                  <a:srgbClr val="4D5156"/>
                </a:solidFill>
                <a:latin typeface="arial" panose="020B0604020202020204" pitchFamily="34" charset="0"/>
              </a:rPr>
              <a:t>bytecode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, que pode ser executado em qualquer dispositivo com a Java Virtual Machine (JVM).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BE9FFC-E7B7-45E1-AAC1-83F9B6597B1C}"/>
              </a:ext>
            </a:extLst>
          </p:cNvPr>
          <p:cNvSpPr txBox="1"/>
          <p:nvPr/>
        </p:nvSpPr>
        <p:spPr>
          <a:xfrm>
            <a:off x="1124124" y="3605360"/>
            <a:ext cx="10037587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James Gosling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: é um programador de computadores americano e criador da linguagem de programação </a:t>
            </a:r>
            <a:r>
              <a:rPr lang="pt-BR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 Ex-chefe do escritório de tecnologia na Mozilla Corporation.</a:t>
            </a:r>
          </a:p>
          <a:p>
            <a:endParaRPr lang="pt-BR" sz="1050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r>
              <a:rPr lang="pt-BR" b="1" dirty="0">
                <a:solidFill>
                  <a:srgbClr val="4D5156"/>
                </a:solidFill>
                <a:latin typeface="arial" panose="020B0604020202020204" pitchFamily="34" charset="0"/>
              </a:rPr>
              <a:t>Padronização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: Oracle Corporation.</a:t>
            </a:r>
          </a:p>
          <a:p>
            <a:endParaRPr lang="pt-BR" sz="1000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r>
              <a:rPr lang="pt-BR" b="1" dirty="0">
                <a:solidFill>
                  <a:srgbClr val="4D5156"/>
                </a:solidFill>
                <a:latin typeface="arial" panose="020B0604020202020204" pitchFamily="34" charset="0"/>
              </a:rPr>
              <a:t>Documentação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: https://docs.oracle.com/en/java/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B2A920-C1E3-B5C4-D0BA-9EA97627A842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39435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657F-5EB1-E990-1DD4-452F4344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BC0FC-4962-AA18-6FB5-5AFAA2F6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114862"/>
            <a:ext cx="10131425" cy="807519"/>
          </a:xfrm>
        </p:spPr>
        <p:txBody>
          <a:bodyPr>
            <a:normAutofit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Javascript</a:t>
            </a:r>
          </a:p>
        </p:txBody>
      </p:sp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D722FB62-04D2-68CF-62EA-33CFFE2B9B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72F4F8-80C0-8DDB-589E-8FC4AFEF5AC7}"/>
              </a:ext>
            </a:extLst>
          </p:cNvPr>
          <p:cNvSpPr txBox="1"/>
          <p:nvPr/>
        </p:nvSpPr>
        <p:spPr>
          <a:xfrm>
            <a:off x="1124125" y="2018892"/>
            <a:ext cx="96389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</a:rPr>
              <a:t>Javascript® (às vezes abreviado para JS) é uma linguagem leve, interpretada e baseada em objetos com </a:t>
            </a:r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funções de primeira classe</a:t>
            </a:r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</a:rPr>
              <a:t>, mais conhecida como a linguagem de script para páginas Web, mas usada também em </a:t>
            </a:r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vários outros ambientes sem browser</a:t>
            </a:r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</a:rPr>
              <a:t>, tais como </a:t>
            </a:r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  <a:hlinkClick r:id="rId4" tooltip="http://nodejs.or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node.js</a:t>
            </a:r>
            <a:r>
              <a:rPr lang="pt-BR" sz="2000" dirty="0">
                <a:solidFill>
                  <a:srgbClr val="2D2D2D"/>
                </a:solidFill>
                <a:latin typeface="Open Sans" panose="020B0606030504020204" pitchFamily="34" charset="0"/>
              </a:rPr>
              <a:t>,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D4715E2-B8DE-94EF-00C2-803AFF7EC2DB}"/>
              </a:ext>
            </a:extLst>
          </p:cNvPr>
          <p:cNvSpPr txBox="1"/>
          <p:nvPr/>
        </p:nvSpPr>
        <p:spPr>
          <a:xfrm>
            <a:off x="1124124" y="3605360"/>
            <a:ext cx="10037587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Brendan Eich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: é um programador de computadores americano e criador da linguagem de programação </a:t>
            </a:r>
            <a:r>
              <a:rPr lang="pt-BR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. Ex-chefe do escritório de tecnologia na Mozilla Corporation.</a:t>
            </a:r>
          </a:p>
          <a:p>
            <a:endParaRPr lang="pt-BR" sz="1050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r>
              <a:rPr lang="pt-BR" b="1" dirty="0">
                <a:solidFill>
                  <a:srgbClr val="4D5156"/>
                </a:solidFill>
                <a:latin typeface="arial" panose="020B0604020202020204" pitchFamily="34" charset="0"/>
              </a:rPr>
              <a:t>Padronização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: </a:t>
            </a:r>
            <a:r>
              <a:rPr lang="pt-BR" b="0" i="0" dirty="0">
                <a:solidFill>
                  <a:srgbClr val="15141A"/>
                </a:solidFill>
                <a:effectLst/>
                <a:latin typeface="Inter"/>
              </a:rPr>
              <a:t> </a:t>
            </a:r>
            <a:r>
              <a:rPr lang="pt-BR" dirty="0" err="1">
                <a:solidFill>
                  <a:srgbClr val="4D5156"/>
                </a:solidFill>
                <a:latin typeface="arial" panose="020B0604020202020204" pitchFamily="34" charset="0"/>
                <a:hlinkClick r:id="rId5" tooltip="ECMAScrip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ECMAScript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.</a:t>
            </a:r>
          </a:p>
          <a:p>
            <a:endParaRPr lang="pt-BR" sz="1000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r>
              <a:rPr lang="pt-BR" b="1" dirty="0">
                <a:solidFill>
                  <a:srgbClr val="4D5156"/>
                </a:solidFill>
                <a:latin typeface="arial" panose="020B0604020202020204" pitchFamily="34" charset="0"/>
              </a:rPr>
              <a:t>Documentação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: MDN - https://developer.mozilla.org/pt-BR/docs/Web/JavaScript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C56A7B5-F524-8B94-C710-A13A2AF1D403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3053951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F544-041B-1A91-4051-95C4C718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04193-D3BB-D6ED-2559-F6E52A27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114862"/>
            <a:ext cx="10131425" cy="807519"/>
          </a:xfrm>
        </p:spPr>
        <p:txBody>
          <a:bodyPr>
            <a:normAutofit/>
          </a:bodyPr>
          <a:lstStyle/>
          <a:p>
            <a:r>
              <a:rPr lang="pt-BR" dirty="0">
                <a:latin typeface="A-Space Black Demo" panose="02000500000000000000" pitchFamily="2" charset="0"/>
              </a:rPr>
              <a:t>Objeto</a:t>
            </a:r>
          </a:p>
        </p:txBody>
      </p:sp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759CEB70-1325-06C8-6EC7-3BB6D97C7B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5DF6E9-98F7-5AFE-D6BD-BC2FD55D6AE3}"/>
              </a:ext>
            </a:extLst>
          </p:cNvPr>
          <p:cNvSpPr txBox="1"/>
          <p:nvPr/>
        </p:nvSpPr>
        <p:spPr>
          <a:xfrm>
            <a:off x="1124125" y="1768201"/>
            <a:ext cx="96389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Um objeto é uma representação de algo do mundo real dentro do código. Ele possui:</a:t>
            </a:r>
          </a:p>
          <a:p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✅ Atributos (características) → Exemplo: um carro tem cor, marca, ano.</a:t>
            </a:r>
            <a:b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</a:b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✅ Métodos (ações) → Exemplo: um carro pode acelerar, frear, buzinar.</a:t>
            </a:r>
          </a:p>
          <a:p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📌 Exemplo didático:</a:t>
            </a:r>
            <a:b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</a:b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Imagine um carro de brinquedo 🏎️. Ele tem cor (vermelho), marca (Ferrari) e ação (andar).</a:t>
            </a:r>
            <a:b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</a:b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No código, um objeto seria assim: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57DEE3-DE49-A9AC-BD4A-248D59539E45}"/>
              </a:ext>
            </a:extLst>
          </p:cNvPr>
          <p:cNvSpPr txBox="1"/>
          <p:nvPr/>
        </p:nvSpPr>
        <p:spPr>
          <a:xfrm>
            <a:off x="1030287" y="3728850"/>
            <a:ext cx="100375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4D5156"/>
                </a:solidFill>
                <a:latin typeface="arial" panose="020B0604020202020204" pitchFamily="34" charset="0"/>
              </a:rPr>
              <a:t>Alan Kay </a:t>
            </a:r>
            <a:r>
              <a:rPr lang="pt-BR" b="1" dirty="0"/>
              <a:t>– 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O Pai da Programação Orientada a Objetos,</a:t>
            </a:r>
            <a:r>
              <a:rPr lang="pt-BR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é um cientista da computação que Graças a ele, hoje usamos classes e objetos para programar de forma organizada e que permite simplificar a complexidade do mundo real dentro do código</a:t>
            </a:r>
            <a:r>
              <a:rPr lang="pt-BR" dirty="0"/>
              <a:t>.</a:t>
            </a:r>
            <a:r>
              <a:rPr lang="pt-BR" dirty="0">
                <a:solidFill>
                  <a:srgbClr val="4D5156"/>
                </a:solidFill>
                <a:latin typeface="arial" panose="020B0604020202020204" pitchFamily="34" charset="0"/>
              </a:rPr>
              <a:t> </a:t>
            </a:r>
          </a:p>
          <a:p>
            <a:endParaRPr lang="pt-BR" dirty="0">
              <a:solidFill>
                <a:srgbClr val="4D5156"/>
              </a:solidFill>
              <a:latin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58FCFE-E874-D573-3B52-2BEDC15084AA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</p:spTree>
    <p:extLst>
      <p:ext uri="{BB962C8B-B14F-4D97-AF65-F5344CB8AC3E}">
        <p14:creationId xmlns:p14="http://schemas.microsoft.com/office/powerpoint/2010/main" val="43972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E6FA-6AA0-ABA7-F9A2-08ACAA16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Compiladores vs Interpretadores: vantagens e desvantagens ~ Code Masters">
            <a:extLst>
              <a:ext uri="{FF2B5EF4-FFF2-40B4-BE49-F238E27FC236}">
                <a16:creationId xmlns:a16="http://schemas.microsoft.com/office/drawing/2014/main" id="{B8EA66B0-6E11-6858-7671-0BBB7746DF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EBA043-E944-15F8-C262-E2F50526E14A}"/>
              </a:ext>
            </a:extLst>
          </p:cNvPr>
          <p:cNvSpPr txBox="1"/>
          <p:nvPr/>
        </p:nvSpPr>
        <p:spPr>
          <a:xfrm>
            <a:off x="7084612" y="6396335"/>
            <a:ext cx="4789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&lt;</a:t>
            </a:r>
            <a:r>
              <a:rPr lang="pt-BR" sz="24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Profº</a:t>
            </a:r>
            <a:r>
              <a:rPr lang="pt-BR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A-Space Black Demo" panose="02000500000000000000" pitchFamily="2" charset="0"/>
              </a:rPr>
              <a:t> Alessandro</a:t>
            </a:r>
            <a:r>
              <a:rPr lang="pt-BR" sz="2400" dirty="0">
                <a:solidFill>
                  <a:schemeClr val="accent3">
                    <a:lumMod val="50000"/>
                  </a:schemeClr>
                </a:solidFill>
                <a:latin typeface="A-Space Black Demo" panose="02000500000000000000" pitchFamily="2" charset="0"/>
              </a:rPr>
              <a:t> /&gt;</a:t>
            </a:r>
          </a:p>
        </p:txBody>
      </p:sp>
      <p:pic>
        <p:nvPicPr>
          <p:cNvPr id="9" name="Mídia Online 8" title="História Da Programação">
            <a:hlinkClick r:id="" action="ppaction://media"/>
            <a:extLst>
              <a:ext uri="{FF2B5EF4-FFF2-40B4-BE49-F238E27FC236}">
                <a16:creationId xmlns:a16="http://schemas.microsoft.com/office/drawing/2014/main" id="{990B5861-0FF8-9631-AFDA-95E0C012092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64069" y="0"/>
            <a:ext cx="11216156" cy="633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219</TotalTime>
  <Words>705</Words>
  <Application>Microsoft Office PowerPoint</Application>
  <PresentationFormat>Widescreen</PresentationFormat>
  <Paragraphs>45</Paragraphs>
  <Slides>11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Arial</vt:lpstr>
      <vt:lpstr>Arial</vt:lpstr>
      <vt:lpstr>A-Space Black Demo</vt:lpstr>
      <vt:lpstr>Calibri</vt:lpstr>
      <vt:lpstr>Calibri Light</vt:lpstr>
      <vt:lpstr>Inter</vt:lpstr>
      <vt:lpstr>Open Sans</vt:lpstr>
      <vt:lpstr>Retrospectiva</vt:lpstr>
      <vt:lpstr>Apresentação do PowerPoint</vt:lpstr>
      <vt:lpstr>Linguagem de  Programação</vt:lpstr>
      <vt:lpstr>Linguagem  Compilada</vt:lpstr>
      <vt:lpstr>Linguagem  Interpretada</vt:lpstr>
      <vt:lpstr>Prós  e contras</vt:lpstr>
      <vt:lpstr>Linguagem  de Alto nível</vt:lpstr>
      <vt:lpstr>Linguagem  de Baixo nível</vt:lpstr>
      <vt:lpstr>Java</vt:lpstr>
      <vt:lpstr>Javascript</vt:lpstr>
      <vt:lpstr>Objeto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BARBOSA VITORIO</dc:creator>
  <cp:lastModifiedBy>ALESSANDRO BARBOSA VITORIO</cp:lastModifiedBy>
  <cp:revision>7</cp:revision>
  <dcterms:created xsi:type="dcterms:W3CDTF">2022-04-14T03:01:54Z</dcterms:created>
  <dcterms:modified xsi:type="dcterms:W3CDTF">2025-02-05T16:47:34Z</dcterms:modified>
</cp:coreProperties>
</file>